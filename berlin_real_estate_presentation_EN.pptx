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Secondary Price (€/m²)</c:v>
                </c:pt>
              </c:strCache>
            </c:strRef>
          </c:tx>
          <c:spPr>
            <a:solidFill>
              <a:srgbClr val="2E86AB"/>
            </a:solidFill>
            <a:ln w="38100" cap="flat">
              <a:solidFill>
                <a:srgbClr val="2E86A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86AB"/>
              </a:solidFill>
              <a:ln w="9525" cap="flat">
                <a:solidFill>
                  <a:srgbClr val="2E86A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7637</c:v>
                </c:pt>
                <c:pt idx="1">
                  <c:v>8253</c:v>
                </c:pt>
                <c:pt idx="2">
                  <c:v>9473</c:v>
                </c:pt>
                <c:pt idx="3">
                  <c:v>9182</c:v>
                </c:pt>
                <c:pt idx="4">
                  <c:v>9058</c:v>
                </c:pt>
                <c:pt idx="5">
                  <c:v>9541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 Construction (€/m²)</c:v>
                </c:pt>
              </c:strCache>
            </c:strRef>
          </c:tx>
          <c:spPr>
            <a:solidFill>
              <a:srgbClr val="F6AE2D"/>
            </a:solidFill>
            <a:ln w="38100" cap="flat">
              <a:solidFill>
                <a:srgbClr val="F6AE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6AE2D"/>
              </a:solidFill>
              <a:ln w="9525" cap="flat">
                <a:solidFill>
                  <a:srgbClr val="F6AE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9677</c:v>
                </c:pt>
                <c:pt idx="1">
                  <c:v>10308</c:v>
                </c:pt>
                <c:pt idx="2">
                  <c:v>12115</c:v>
                </c:pt>
                <c:pt idx="3">
                  <c:v>11457</c:v>
                </c:pt>
                <c:pt idx="4">
                  <c:v>11486</c:v>
                </c:pt>
                <c:pt idx="5">
                  <c:v>11982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00"/>
          <c:min val="60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New–Secondary Gap (%)</c:v>
                </c:pt>
              </c:strCache>
            </c:strRef>
          </c:tx>
          <c:spPr>
            <a:solidFill>
              <a:srgbClr val="C9820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26.7</c:v>
                </c:pt>
                <c:pt idx="1">
                  <c:v>24.9</c:v>
                </c:pt>
                <c:pt idx="2">
                  <c:v>27.9</c:v>
                </c:pt>
                <c:pt idx="3">
                  <c:v>24.8</c:v>
                </c:pt>
                <c:pt idx="4">
                  <c:v>26.8</c:v>
                </c:pt>
                <c:pt idx="5">
                  <c:v>25.6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  <c:min val="2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Kaltmiete (€/m²/mo)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19.54</c:v>
                </c:pt>
                <c:pt idx="1">
                  <c:v>20.92</c:v>
                </c:pt>
                <c:pt idx="2">
                  <c:v>23.88</c:v>
                </c:pt>
                <c:pt idx="3">
                  <c:v>25.72</c:v>
                </c:pt>
                <c:pt idx="4">
                  <c:v>26.55</c:v>
                </c:pt>
                <c:pt idx="5">
                  <c:v>28.49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  <c:min val="1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Yield (%)</c:v>
                </c:pt>
              </c:strCache>
            </c:strRef>
          </c:tx>
          <c:spPr>
            <a:solidFill>
              <a:srgbClr val="F6AE2D"/>
            </a:solidFill>
            <a:ln w="31750" cap="flat">
              <a:solidFill>
                <a:srgbClr val="F6AE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6AE2D"/>
              </a:solidFill>
              <a:ln w="9525" cap="flat">
                <a:solidFill>
                  <a:srgbClr val="F6AE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3.07</c:v>
                </c:pt>
                <c:pt idx="1">
                  <c:v>3.04</c:v>
                </c:pt>
                <c:pt idx="2">
                  <c:v>3.02</c:v>
                </c:pt>
                <c:pt idx="3">
                  <c:v>3.36</c:v>
                </c:pt>
                <c:pt idx="4">
                  <c:v>3.52</c:v>
                </c:pt>
                <c:pt idx="5">
                  <c:v>3.58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8"/>
          <c:min val="2.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8046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10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BERLIN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500" kern="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ESTATE MARKET REPORT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947672"/>
            <a:ext cx="5029200" cy="0"/>
          </a:xfrm>
          <a:prstGeom prst="line">
            <a:avLst/>
          </a:prstGeom>
          <a:noFill/>
          <a:ln w="31750">
            <a:solidFill>
              <a:srgbClr val="F6AE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Bezirk Mitte  ·  Ortsteil Mitte (Ort) &amp; Tiergarten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50545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2020 – April 2026  ·  Price Gap, Yield &amp; Market Cycle Analysis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3429000"/>
            <a:ext cx="8732520" cy="1481328"/>
          </a:xfrm>
          <a:prstGeom prst="rect">
            <a:avLst/>
          </a:prstGeom>
          <a:solidFill>
            <a:srgbClr val="162D4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584448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A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€10,014/m²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4078224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All-time High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D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(Sep 2025)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67712" y="3584448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A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+24.9%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267712" y="4078224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Price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D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2020→25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86784" y="3584448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A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+45.8%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986784" y="4078224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Rent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D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2020→25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05856" y="3584448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A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~25–28%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705856" y="4078224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New–Secondary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D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Gap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24928" y="3584448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A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3.58%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424928" y="4078224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Yield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D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(2025)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47472" y="61264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key findings from the 2020–2026 dataset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4297680" cy="1298448"/>
          </a:xfrm>
          <a:prstGeom prst="roundRect">
            <a:avLst>
              <a:gd name="adj" fmla="val 5634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822960"/>
            <a:ext cx="429768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" y="868680"/>
            <a:ext cx="4078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Price Growth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10896" y="1234440"/>
            <a:ext cx="407822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prices rose +24.9% (€7,637→€9,541/m²). All-time high of €10,014/m² hit Sep 2025. Mitte has absorbed every macro shock without sustained decline.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27448" y="822960"/>
            <a:ext cx="4297680" cy="1298448"/>
          </a:xfrm>
          <a:prstGeom prst="roundRect">
            <a:avLst>
              <a:gd name="adj" fmla="val 5634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27448" y="822960"/>
            <a:ext cx="4297680" cy="347472"/>
          </a:xfrm>
          <a:prstGeom prst="rect">
            <a:avLst/>
          </a:prstGeom>
          <a:solidFill>
            <a:srgbClr val="0F5C7A"/>
          </a:solidFill>
          <a:ln/>
        </p:spPr>
      </p:sp>
      <p:sp>
        <p:nvSpPr>
          <p:cNvPr id="11" name="Text 9"/>
          <p:cNvSpPr/>
          <p:nvPr/>
        </p:nvSpPr>
        <p:spPr>
          <a:xfrm>
            <a:off x="4837176" y="868680"/>
            <a:ext cx="4078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Construction Premium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37176" y="1234440"/>
            <a:ext cx="407822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builds trade at a persistent 25–28% premium over secondary stock — driven by construction cost inflation, EPC compliance, and developer pricing power.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1168" y="2212848"/>
            <a:ext cx="4297680" cy="1298448"/>
          </a:xfrm>
          <a:prstGeom prst="roundRect">
            <a:avLst>
              <a:gd name="adj" fmla="val 5634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1168" y="2212848"/>
            <a:ext cx="4297680" cy="347472"/>
          </a:xfrm>
          <a:prstGeom prst="rect">
            <a:avLst/>
          </a:prstGeom>
          <a:solidFill>
            <a:srgbClr val="1A6E3E"/>
          </a:solidFill>
          <a:ln/>
        </p:spPr>
      </p:sp>
      <p:sp>
        <p:nvSpPr>
          <p:cNvPr id="15" name="Text 13"/>
          <p:cNvSpPr/>
          <p:nvPr/>
        </p:nvSpPr>
        <p:spPr>
          <a:xfrm>
            <a:off x="310896" y="2258568"/>
            <a:ext cx="4078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Outpacing Prices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10896" y="2624328"/>
            <a:ext cx="407822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Kaltmiete surged +45.8% vs. +24.9% for prices. This divergence is the defining feature of the market: rent scarcity is structural, not cyclical.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27448" y="2212848"/>
            <a:ext cx="4297680" cy="1298448"/>
          </a:xfrm>
          <a:prstGeom prst="roundRect">
            <a:avLst>
              <a:gd name="adj" fmla="val 5634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27448" y="2212848"/>
            <a:ext cx="429768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837176" y="2258568"/>
            <a:ext cx="4078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Market Phases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37176" y="2624328"/>
            <a:ext cx="407822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Pandemic Stabilisation (2020–21) → Inflation Spike (2022) → ECB Correction (2023–24) → Recovery &amp; Expansion (2025–26). Each phase is clearly identifiable in the data.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01168" y="3602736"/>
            <a:ext cx="4297680" cy="1298448"/>
          </a:xfrm>
          <a:prstGeom prst="roundRect">
            <a:avLst>
              <a:gd name="adj" fmla="val 5634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01168" y="3602736"/>
            <a:ext cx="4297680" cy="347472"/>
          </a:xfrm>
          <a:prstGeom prst="rect">
            <a:avLst/>
          </a:prstGeom>
          <a:solidFill>
            <a:srgbClr val="C9820A"/>
          </a:solidFill>
          <a:ln/>
        </p:spPr>
      </p:sp>
      <p:sp>
        <p:nvSpPr>
          <p:cNvPr id="23" name="Text 21"/>
          <p:cNvSpPr/>
          <p:nvPr/>
        </p:nvSpPr>
        <p:spPr>
          <a:xfrm>
            <a:off x="310896" y="3648456"/>
            <a:ext cx="4078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Improving Yield Profile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10896" y="4014216"/>
            <a:ext cx="407822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yield rose from 3.07% (2020) to 3.58% (2025) as rents grew faster than prices. The correction window of 2023–24 was a buy-at-discount opportunity.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27448" y="3602736"/>
            <a:ext cx="4297680" cy="1298448"/>
          </a:xfrm>
          <a:prstGeom prst="roundRect">
            <a:avLst>
              <a:gd name="adj" fmla="val 5634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27448" y="3602736"/>
            <a:ext cx="4297680" cy="347472"/>
          </a:xfrm>
          <a:prstGeom prst="rect">
            <a:avLst/>
          </a:prstGeom>
          <a:solidFill>
            <a:srgbClr val="9B1C1C"/>
          </a:solidFill>
          <a:ln/>
        </p:spPr>
      </p:sp>
      <p:sp>
        <p:nvSpPr>
          <p:cNvPr id="27" name="Text 25"/>
          <p:cNvSpPr/>
          <p:nvPr/>
        </p:nvSpPr>
        <p:spPr>
          <a:xfrm>
            <a:off x="4837176" y="3648456"/>
            <a:ext cx="4078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Scarcity is Structural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37176" y="4014216"/>
            <a:ext cx="407822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listings fell from 107/mo (2021) to 91/mo (2024). New-construction averages just 24–36 units/month — far below city-wide demand estimates of 30,000+ units/year.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Berlin Real Estate Dataset  |  Analysis Period: Jan 2020 – Apr 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TRENDS: SECONDARY vs. NEW CONSTRUCTION (2020–2025)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47472" y="61264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Mitte (Ort) — Annual averages  ·  EUR/m²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56032" y="749808"/>
          <a:ext cx="621792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656832" y="749808"/>
            <a:ext cx="2286000" cy="370332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748272" y="8412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Summary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748272" y="1161288"/>
            <a:ext cx="2011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48272" y="123444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223760" y="12344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€7,637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748272" y="149047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 27%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748272" y="173736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223760" y="17373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€8,253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748272" y="199339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 25%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748272" y="224028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223760" y="22402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€9,473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748272" y="249631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 28%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748272" y="274320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223760" y="27432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€9,182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748272" y="299923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 25%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748272" y="324612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223760" y="32461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€9,058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748272" y="350215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 27%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748272" y="374904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223760" y="37490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€9,541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748272" y="400507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 26%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Berlin Real Estate Dataset  |  Analysis Period: Jan 2020 – Apr 2026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ANALYSIS: NEW CONSTRUCTION vs. SECONDARY MARKET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47472" y="61264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drives the persistent 25–28% premium — and what it means for investors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56032" y="749808"/>
          <a:ext cx="45720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256032" y="38404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New–Secondary Price Gap (%)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029200" y="777240"/>
            <a:ext cx="3913632" cy="960120"/>
          </a:xfrm>
          <a:prstGeom prst="roundRect">
            <a:avLst>
              <a:gd name="adj" fmla="val 6667"/>
            </a:avLst>
          </a:prstGeom>
          <a:solidFill>
            <a:srgbClr val="FEF9EE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138928" y="84124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Construction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Inflation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12280" y="841248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costs +35% in 2021–22 locked into new-build pricing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748272" y="868680"/>
            <a:ext cx="0" cy="77724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0" y="1819656"/>
            <a:ext cx="3913632" cy="96012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138928" y="188366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EPC Compliance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12280" y="1883664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KfW40 standard adds €300–800/m² to build cost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748272" y="1911096"/>
            <a:ext cx="0" cy="77724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0" y="2862072"/>
            <a:ext cx="3913632" cy="960120"/>
          </a:xfrm>
          <a:prstGeom prst="roundRect">
            <a:avLst>
              <a:gd name="adj" fmla="val 6667"/>
            </a:avLst>
          </a:prstGeom>
          <a:solidFill>
            <a:srgbClr val="FEF9EE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138928" y="29260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Developer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Power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812280" y="2926080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Oligopolistic supply; few competing projects in Mitte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748272" y="2953512"/>
            <a:ext cx="0" cy="77724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29200" y="3904488"/>
            <a:ext cx="3913632" cy="96012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138928" y="396849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Quality &amp;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Differential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812280" y="3968496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ceilings, EV parking, smart-home features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748272" y="3995928"/>
            <a:ext cx="0" cy="77724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6032" y="4142232"/>
            <a:ext cx="8686800" cy="749808"/>
          </a:xfrm>
          <a:prstGeom prst="roundRect">
            <a:avLst>
              <a:gd name="adj" fmla="val 8537"/>
            </a:avLst>
          </a:prstGeom>
          <a:solidFill>
            <a:srgbClr val="FFF7E6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384048" y="42062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INVESTOR ALERT: A new-construction buyer at €12,000/m² achieves ~2.9% gross yield vs. ~3.6% for a secondary purchase at €9,500/m². The 70bp yield gap must be justified by capital appreciation, quality premium, or exit pricing — not by income alone.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Berlin Real Estate Dataset  |  Analysis Period: Jan 2020 – Apr 2026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RENT &amp; YIELD TRAJECTORY (2020–2025)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47472" y="61264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Kaltmiete growth of +45.8% has structurally outpaced price appreciation of +24.9%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56032" y="749808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256032" y="3547872"/>
          <a:ext cx="502920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256032" y="352044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Rent (€/m²/mo)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256032" y="491947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Yield (%) — Rising as rents outpace prices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5504688" y="804672"/>
            <a:ext cx="3429000" cy="987552"/>
          </a:xfrm>
          <a:prstGeom prst="roundRect">
            <a:avLst>
              <a:gd name="adj" fmla="val 8333"/>
            </a:avLst>
          </a:prstGeom>
          <a:solidFill>
            <a:srgbClr val="1E3A5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577840" y="87782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A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€28.49/m²/mo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577840" y="13533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Kaltmiete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D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504688" y="1874520"/>
            <a:ext cx="3429000" cy="987552"/>
          </a:xfrm>
          <a:prstGeom prst="roundRect">
            <a:avLst>
              <a:gd name="adj" fmla="val 8333"/>
            </a:avLst>
          </a:prstGeom>
          <a:solidFill>
            <a:srgbClr val="0F4C75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577840" y="194767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A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€30.03/m²/mo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5577840" y="2423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Kaltmiete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D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2025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504688" y="2944368"/>
            <a:ext cx="3429000" cy="987552"/>
          </a:xfrm>
          <a:prstGeom prst="roundRect">
            <a:avLst>
              <a:gd name="adj" fmla="val 8333"/>
            </a:avLst>
          </a:prstGeom>
          <a:solidFill>
            <a:srgbClr val="2E86AB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577840" y="301752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A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+45.8%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5577840" y="349300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5-Year Rent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D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504688" y="4014216"/>
            <a:ext cx="3429000" cy="987552"/>
          </a:xfrm>
          <a:prstGeom prst="roundRect">
            <a:avLst>
              <a:gd name="adj" fmla="val 8333"/>
            </a:avLst>
          </a:prstGeom>
          <a:solidFill>
            <a:srgbClr val="1A6E3E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577840" y="4087368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A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3.58%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5577840" y="456285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Yield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D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Berlin Real Estate Dataset  |  Analysis Period: Jan 2020 – Apr 2026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MARKET PHASES: 2020–2026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47472" y="61264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phase has distinct drivers, price dynamics, and investment implications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4592" y="749808"/>
            <a:ext cx="2029968" cy="429768"/>
          </a:xfrm>
          <a:prstGeom prst="roundRect">
            <a:avLst>
              <a:gd name="adj" fmla="val 12766"/>
            </a:avLst>
          </a:prstGeom>
          <a:solidFill>
            <a:srgbClr val="0F5C7A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" y="795528"/>
            <a:ext cx="20299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2020–2021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4592" y="125272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5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PANDEMIC STABILISATION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64592" y="1664208"/>
            <a:ext cx="2029968" cy="2286000"/>
          </a:xfrm>
          <a:prstGeom prst="roundRect">
            <a:avLst>
              <a:gd name="adj" fmla="val 315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" y="1755648"/>
            <a:ext cx="1847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ECB rate: −0.5%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6032" y="2231136"/>
            <a:ext cx="1847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Secondary: +8.1%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6032" y="2706624"/>
            <a:ext cx="1847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Rent: +7.1%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6032" y="3182112"/>
            <a:ext cx="1847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Mietendeckel suppressed rent listings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64592" y="4005072"/>
            <a:ext cx="2029968" cy="777240"/>
          </a:xfrm>
          <a:prstGeom prst="roundRect">
            <a:avLst>
              <a:gd name="adj" fmla="val 7059"/>
            </a:avLst>
          </a:prstGeom>
          <a:solidFill>
            <a:srgbClr val="0F5C7A"/>
          </a:solidFill>
          <a:ln/>
        </p:spPr>
      </p:sp>
      <p:sp>
        <p:nvSpPr>
          <p:cNvPr id="14" name="Text 12"/>
          <p:cNvSpPr/>
          <p:nvPr/>
        </p:nvSpPr>
        <p:spPr>
          <a:xfrm>
            <a:off x="237744" y="4050792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37744" y="4224528"/>
            <a:ext cx="18836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WINDOW — Cheap financing, stable prices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377440" y="749808"/>
            <a:ext cx="2029968" cy="429768"/>
          </a:xfrm>
          <a:prstGeom prst="roundRect">
            <a:avLst>
              <a:gd name="adj" fmla="val 12766"/>
            </a:avLst>
          </a:prstGeom>
          <a:solidFill>
            <a:srgbClr val="9B1C1C"/>
          </a:solidFill>
          <a:ln/>
        </p:spPr>
      </p:sp>
      <p:sp>
        <p:nvSpPr>
          <p:cNvPr id="17" name="Text 15"/>
          <p:cNvSpPr/>
          <p:nvPr/>
        </p:nvSpPr>
        <p:spPr>
          <a:xfrm>
            <a:off x="2377440" y="795528"/>
            <a:ext cx="20299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77440" y="125272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INFLATION SHOCK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377440" y="1664208"/>
            <a:ext cx="2029968" cy="2286000"/>
          </a:xfrm>
          <a:prstGeom prst="roundRect">
            <a:avLst>
              <a:gd name="adj" fmla="val 315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68880" y="1755648"/>
            <a:ext cx="1847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Ukraine war → energy crisis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468880" y="2231136"/>
            <a:ext cx="1847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Prices: +14.8% YoY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468880" y="2706624"/>
            <a:ext cx="1847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Rents: +14.2% YoY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468880" y="3182112"/>
            <a:ext cx="1847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Largest single-year gains in dataset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377440" y="4005072"/>
            <a:ext cx="2029968" cy="777240"/>
          </a:xfrm>
          <a:prstGeom prst="roundRect">
            <a:avLst>
              <a:gd name="adj" fmla="val 7059"/>
            </a:avLst>
          </a:prstGeom>
          <a:solidFill>
            <a:srgbClr val="9B1C1C"/>
          </a:solidFill>
          <a:ln/>
        </p:spPr>
      </p:sp>
      <p:sp>
        <p:nvSpPr>
          <p:cNvPr id="25" name="Text 23"/>
          <p:cNvSpPr/>
          <p:nvPr/>
        </p:nvSpPr>
        <p:spPr>
          <a:xfrm>
            <a:off x="2450592" y="4050792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450592" y="4224528"/>
            <a:ext cx="18836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/ CAUTION — Peak volatility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90288" y="749808"/>
            <a:ext cx="2029968" cy="429768"/>
          </a:xfrm>
          <a:prstGeom prst="roundRect">
            <a:avLst>
              <a:gd name="adj" fmla="val 12766"/>
            </a:avLst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4590288" y="795528"/>
            <a:ext cx="20299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2023–2024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90288" y="125272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ECB CORRECTION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90288" y="1664208"/>
            <a:ext cx="2029968" cy="2286000"/>
          </a:xfrm>
          <a:prstGeom prst="roundRect">
            <a:avLst>
              <a:gd name="adj" fmla="val 315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681728" y="1755648"/>
            <a:ext cx="1847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ECB rate: 0% → 4.0%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81728" y="2231136"/>
            <a:ext cx="1847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Prices: −4.4% from peak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681728" y="2706624"/>
            <a:ext cx="1847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Rents continued +11.2%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81728" y="3182112"/>
            <a:ext cx="1847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Yields improved: 3.36%→3.52%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90288" y="4005072"/>
            <a:ext cx="2029968" cy="777240"/>
          </a:xfrm>
          <a:prstGeom prst="roundRect">
            <a:avLst>
              <a:gd name="adj" fmla="val 7059"/>
            </a:avLst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4663440" y="4050792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663440" y="4224528"/>
            <a:ext cx="18836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OPPORTUNITY — Discounted prices, rising yields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803136" y="749808"/>
            <a:ext cx="2029968" cy="429768"/>
          </a:xfrm>
          <a:prstGeom prst="roundRect">
            <a:avLst>
              <a:gd name="adj" fmla="val 12766"/>
            </a:avLst>
          </a:prstGeom>
          <a:solidFill>
            <a:srgbClr val="1A6E3E"/>
          </a:solidFill>
          <a:ln/>
        </p:spPr>
      </p:sp>
      <p:sp>
        <p:nvSpPr>
          <p:cNvPr id="39" name="Text 37"/>
          <p:cNvSpPr/>
          <p:nvPr/>
        </p:nvSpPr>
        <p:spPr>
          <a:xfrm>
            <a:off x="6803136" y="795528"/>
            <a:ext cx="20299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2025–2026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03136" y="125272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6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&amp; EXPANSION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803136" y="1664208"/>
            <a:ext cx="2029968" cy="2286000"/>
          </a:xfrm>
          <a:prstGeom prst="roundRect">
            <a:avLst>
              <a:gd name="adj" fmla="val 315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894576" y="1755648"/>
            <a:ext cx="1847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Rate cuts begin mid-2024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894576" y="2231136"/>
            <a:ext cx="1847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New all-time high: €10,014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894576" y="2706624"/>
            <a:ext cx="1847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Kaltmiete: €28–30/m²/mo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894576" y="3182112"/>
            <a:ext cx="1847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metrics at records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803136" y="4005072"/>
            <a:ext cx="2029968" cy="777240"/>
          </a:xfrm>
          <a:prstGeom prst="roundRect">
            <a:avLst>
              <a:gd name="adj" fmla="val 7059"/>
            </a:avLst>
          </a:prstGeom>
          <a:solidFill>
            <a:srgbClr val="1A6E3E"/>
          </a:solidFill>
          <a:ln/>
        </p:spPr>
      </p:sp>
      <p:sp>
        <p:nvSpPr>
          <p:cNvPr id="47" name="Text 45"/>
          <p:cNvSpPr/>
          <p:nvPr/>
        </p:nvSpPr>
        <p:spPr>
          <a:xfrm>
            <a:off x="6876288" y="4050792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876288" y="4224528"/>
            <a:ext cx="18836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— Less margin of safety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64592" y="4846320"/>
            <a:ext cx="8814816" cy="201168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/>
        </p:spPr>
      </p:sp>
      <p:sp>
        <p:nvSpPr>
          <p:cNvPr id="50" name="Text 48"/>
          <p:cNvSpPr/>
          <p:nvPr/>
        </p:nvSpPr>
        <p:spPr>
          <a:xfrm>
            <a:off x="256032" y="4855464"/>
            <a:ext cx="8631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In every phase, Kaltmiete grew — even during the ECB correction. This confirms rental scarcity is structural, not cyclical.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Phase verdicts are analytical assessments, not investment advice.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MARKET GAPS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47472" y="61264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imbalances that drive long-term price and rent appreciation — and risks that could reverse them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1168" y="795528"/>
            <a:ext cx="4297680" cy="1353312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795528"/>
            <a:ext cx="4297680" cy="347472"/>
          </a:xfrm>
          <a:prstGeom prst="rect">
            <a:avLst/>
          </a:prstGeom>
          <a:solidFill>
            <a:srgbClr val="9B1C1C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8412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 Supply Gap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92608" y="1207008"/>
            <a:ext cx="41148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Berlin's construction deficit: 30,000+ units/year city-wide. Mitte's land scarcity and heritage rules make it structurally undersupplied. Avg. new-construction listings: only 24–36 units/month.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27448" y="795528"/>
            <a:ext cx="4297680" cy="1353312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27448" y="795528"/>
            <a:ext cx="429768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818888" y="8412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Affordability Gap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18888" y="1207008"/>
            <a:ext cx="41148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60m² flat = €572,000 at 2025 prices. At median Berlin income (€36k/yr net), rent absorption reaches 57% of income — double the recommended 30% threshold.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1168" y="2231136"/>
            <a:ext cx="4297680" cy="1353312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1168" y="2231136"/>
            <a:ext cx="4297680" cy="347472"/>
          </a:xfrm>
          <a:prstGeom prst="rect">
            <a:avLst/>
          </a:prstGeom>
          <a:solidFill>
            <a:srgbClr val="0F5C7A"/>
          </a:solidFill>
          <a:ln/>
        </p:spPr>
      </p:sp>
      <p:sp>
        <p:nvSpPr>
          <p:cNvPr id="15" name="Text 13"/>
          <p:cNvSpPr/>
          <p:nvPr/>
        </p:nvSpPr>
        <p:spPr>
          <a:xfrm>
            <a:off x="292608" y="227685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Yield Gap (Property vs. Bonds)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2608" y="2642616"/>
            <a:ext cx="41148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yield (~2.2–2.8%) vs. 10Y Bund (~2.6% mid-2026) has compressed near zero. For leveraged buyers, the risk premium is insufficient — price correction risk is real if rates rise again.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27448" y="2231136"/>
            <a:ext cx="4297680" cy="1353312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27448" y="2231136"/>
            <a:ext cx="4297680" cy="347472"/>
          </a:xfrm>
          <a:prstGeom prst="rect">
            <a:avLst/>
          </a:prstGeom>
          <a:solidFill>
            <a:srgbClr val="1A6E3E"/>
          </a:solidFill>
          <a:ln/>
        </p:spPr>
      </p:sp>
      <p:sp>
        <p:nvSpPr>
          <p:cNvPr id="19" name="Text 17"/>
          <p:cNvSpPr/>
          <p:nvPr/>
        </p:nvSpPr>
        <p:spPr>
          <a:xfrm>
            <a:off x="4818888" y="227685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  Green / EPC Gap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18888" y="2642616"/>
            <a:ext cx="41148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EPC rating not captured in dataset. Old secondary stock (EPC F/G) faces EU EPBD retrofit liability. New construction commands a growing green premium; failing to differentiate creates stranded-asset risk.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01168" y="3666744"/>
            <a:ext cx="4297680" cy="1353312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01168" y="3666744"/>
            <a:ext cx="4297680" cy="347472"/>
          </a:xfrm>
          <a:prstGeom prst="rect">
            <a:avLst/>
          </a:prstGeom>
          <a:solidFill>
            <a:srgbClr val="C9820A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371246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Data Gap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92608" y="4078224"/>
            <a:ext cx="41148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Listing prices ≠ transaction prices. No flat-size breakdown, no buyer-type data, no vacancy rates. Tiergarten data covers only 5 months. Conclusions must be stress-tested against these limitations.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27448" y="3666744"/>
            <a:ext cx="4297680" cy="1353312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27448" y="3666744"/>
            <a:ext cx="4297680" cy="34747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4818888" y="371246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 Regulatory Gap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18888" y="4078224"/>
            <a:ext cx="41148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Mietpreisbremse, Zweckentfremdungsverbot, and potential Mietendeckel 2.0. Berlin political cycle creates regulatory risk: achievable rents could be capped 15–20% below market. Underwriting must be rent-control-resistant.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Berlin Real Estate Dataset  |  Analysis Period: Jan 2020 – Apr 2026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47472" y="61264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Segmented by investor profile — incorporating gap analysis and market cycle findings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1168" y="795528"/>
            <a:ext cx="429768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795528"/>
            <a:ext cx="429768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8412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Buy-to-Let Investor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92608" y="119786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Target secondary at €8,500–9,500/m² for 3.3–3.6% gross yield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545336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45–75m² units, EPC C+, post-2000, near U-Bahn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" y="189280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Set rents at market; apply annual Mietspiegel-compliant increases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2608" y="224028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Net yield target: 2.4–2.8% after mgmt, maintenance &amp; vacancy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2608" y="2624328"/>
            <a:ext cx="4114800" cy="13716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/>
        </p:spPr>
      </p:sp>
      <p:sp>
        <p:nvSpPr>
          <p:cNvPr id="13" name="Shape 11"/>
          <p:cNvSpPr/>
          <p:nvPr/>
        </p:nvSpPr>
        <p:spPr>
          <a:xfrm>
            <a:off x="4727448" y="795528"/>
            <a:ext cx="429768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27448" y="795528"/>
            <a:ext cx="4297680" cy="347472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15" name="Text 13"/>
          <p:cNvSpPr/>
          <p:nvPr/>
        </p:nvSpPr>
        <p:spPr>
          <a:xfrm>
            <a:off x="4818888" y="8412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New-Build / Developer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18888" y="119786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New-build yield (~2.9%) is below secondary (~3.6%) — must justify on exit premium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18888" y="1545336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Target pre-sales &gt;€11,000/m² for pipeline viability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18888" y="189280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Forward-purchase at contract stage: 8–12% below launch price typical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18888" y="224028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Mixed-use (residential + micro-commercial) avoids rent controls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18888" y="2624328"/>
            <a:ext cx="4114800" cy="137160"/>
          </a:xfrm>
          <a:prstGeom prst="roundRect">
            <a:avLst>
              <a:gd name="adj" fmla="val 20000"/>
            </a:avLst>
          </a:prstGeom>
          <a:solidFill>
            <a:srgbClr val="0F4C75"/>
          </a:solidFill>
          <a:ln/>
        </p:spPr>
      </p:sp>
      <p:sp>
        <p:nvSpPr>
          <p:cNvPr id="21" name="Shape 19"/>
          <p:cNvSpPr/>
          <p:nvPr/>
        </p:nvSpPr>
        <p:spPr>
          <a:xfrm>
            <a:off x="201168" y="2880360"/>
            <a:ext cx="429768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01168" y="2880360"/>
            <a:ext cx="4297680" cy="347472"/>
          </a:xfrm>
          <a:prstGeom prst="rect">
            <a:avLst/>
          </a:prstGeom>
          <a:solidFill>
            <a:srgbClr val="1A6E3E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2926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Value-Add Investor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92608" y="3282696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Acquire under-maintained secondary at €8,000–8,800/m²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92608" y="363016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Invest €500–800/m² in refurbishment + EPC upgrade (E→B)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92608" y="397764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Use KfW BEG subsidised loans for energy renovation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92608" y="432511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Exit to institutional buyer at 3.0–3.3% net yield → €10,800–13,000/m²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92608" y="4709160"/>
            <a:ext cx="4114800" cy="137160"/>
          </a:xfrm>
          <a:prstGeom prst="roundRect">
            <a:avLst>
              <a:gd name="adj" fmla="val 20000"/>
            </a:avLst>
          </a:prstGeom>
          <a:solidFill>
            <a:srgbClr val="1A6E3E"/>
          </a:solidFill>
          <a:ln/>
        </p:spPr>
      </p:sp>
      <p:sp>
        <p:nvSpPr>
          <p:cNvPr id="29" name="Shape 27"/>
          <p:cNvSpPr/>
          <p:nvPr/>
        </p:nvSpPr>
        <p:spPr>
          <a:xfrm>
            <a:off x="4727448" y="2880360"/>
            <a:ext cx="429768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27448" y="2880360"/>
            <a:ext cx="429768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4818888" y="2926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/ Portfolio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818888" y="3282696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Core allocation: Mitte qualifies as European core residential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18888" y="363016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Blend Mitte (Ort) + Tiergarten: latter supports stronger exit pricing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18888" y="397764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USD investors: hedge EUR exposure via EUR-denominated debt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18888" y="432511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Prioritise KfW55+ EPC for ESG compliance (EU taxonomy, LP requirements)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18888" y="4709160"/>
            <a:ext cx="4114800" cy="13716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are analytical, not investment advice. All figures based on 2020–2026 dataset. Consult qualified advisors.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MATRIX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47472" y="61264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Prioritised risks with likelihood, impact, and mitigation actions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1168" y="731520"/>
            <a:ext cx="28346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246888" y="768096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Factor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035808" y="731520"/>
            <a:ext cx="82296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3081528" y="768096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Likelihood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58768" y="731520"/>
            <a:ext cx="7772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3904488" y="768096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36008" y="731520"/>
            <a:ext cx="7772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681728" y="768096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13248" y="731520"/>
            <a:ext cx="37490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5458968" y="768096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01168" y="1069848"/>
            <a:ext cx="8741664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246888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Control 2.0 (Mietendeckel)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35808" y="1143000"/>
            <a:ext cx="685800" cy="292608"/>
          </a:xfrm>
          <a:prstGeom prst="roundRect">
            <a:avLst>
              <a:gd name="adj" fmla="val 18750"/>
            </a:avLst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3035808" y="1152144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840480" y="1143000"/>
            <a:ext cx="566928" cy="292608"/>
          </a:xfrm>
          <a:prstGeom prst="roundRect">
            <a:avLst>
              <a:gd name="adj" fmla="val 18750"/>
            </a:avLst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0" y="1152144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08576" y="1115568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1–3 yr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94960" y="1115568"/>
            <a:ext cx="3493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Stress-test at −20% rent; avoid high LTV; diversify across districts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01168" y="1545336"/>
            <a:ext cx="8741664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46888" y="159105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ECB Rate Re-hike Cycle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035808" y="1618488"/>
            <a:ext cx="685800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3035808" y="162763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840480" y="1618488"/>
            <a:ext cx="566928" cy="292608"/>
          </a:xfrm>
          <a:prstGeom prst="roundRect">
            <a:avLst>
              <a:gd name="adj" fmla="val 18750"/>
            </a:avLst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0" y="1627632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08576" y="1591056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2–4 yr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94960" y="1591056"/>
            <a:ext cx="3493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mortgage rate; maintain LTV &lt;60%; prefer equity-heavy structures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01168" y="2020824"/>
            <a:ext cx="8741664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Text 30"/>
          <p:cNvSpPr/>
          <p:nvPr/>
        </p:nvSpPr>
        <p:spPr>
          <a:xfrm>
            <a:off x="246888" y="206654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EPC/Green Regulation Tightening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035808" y="2093976"/>
            <a:ext cx="685800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3035808" y="210312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840480" y="2093976"/>
            <a:ext cx="566928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3840480" y="2103120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608576" y="2066544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3–7 yr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94960" y="2066544"/>
            <a:ext cx="3493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Acquire EPC C+ only; budget €500–800/m² for future upgrades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01168" y="2496312"/>
            <a:ext cx="8741664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246888" y="25420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Gap vs. Risk-Free Rate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035808" y="2569464"/>
            <a:ext cx="685800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3035808" y="257860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840480" y="2569464"/>
            <a:ext cx="566928" cy="292608"/>
          </a:xfrm>
          <a:prstGeom prst="roundRect">
            <a:avLst>
              <a:gd name="adj" fmla="val 18750"/>
            </a:avLst>
          </a:prstGeom>
          <a:solidFill>
            <a:srgbClr val="EF4444"/>
          </a:solidFill>
          <a:ln/>
        </p:spPr>
      </p:sp>
      <p:sp>
        <p:nvSpPr>
          <p:cNvPr id="44" name="Text 42"/>
          <p:cNvSpPr/>
          <p:nvPr/>
        </p:nvSpPr>
        <p:spPr>
          <a:xfrm>
            <a:off x="3840480" y="2578608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608576" y="2542032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94960" y="2542032"/>
            <a:ext cx="3493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yield must exceed Bund + 150bp; do not invest at negative risk premia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01168" y="2971800"/>
            <a:ext cx="8741664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8" name="Text 46"/>
          <p:cNvSpPr/>
          <p:nvPr/>
        </p:nvSpPr>
        <p:spPr>
          <a:xfrm>
            <a:off x="246888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Oversupply (Mitte)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035808" y="3044952"/>
            <a:ext cx="685800" cy="292608"/>
          </a:xfrm>
          <a:prstGeom prst="roundRect">
            <a:avLst>
              <a:gd name="adj" fmla="val 18750"/>
            </a:avLst>
          </a:prstGeom>
          <a:solidFill>
            <a:srgbClr val="22C55E"/>
          </a:solidFill>
          <a:ln/>
        </p:spPr>
      </p:sp>
      <p:sp>
        <p:nvSpPr>
          <p:cNvPr id="50" name="Text 48"/>
          <p:cNvSpPr/>
          <p:nvPr/>
        </p:nvSpPr>
        <p:spPr>
          <a:xfrm>
            <a:off x="3035808" y="3054096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840480" y="3044952"/>
            <a:ext cx="566928" cy="292608"/>
          </a:xfrm>
          <a:prstGeom prst="roundRect">
            <a:avLst>
              <a:gd name="adj" fmla="val 18750"/>
            </a:avLst>
          </a:prstGeom>
          <a:solidFill>
            <a:srgbClr val="EF4444"/>
          </a:solidFill>
          <a:ln/>
        </p:spPr>
      </p:sp>
      <p:sp>
        <p:nvSpPr>
          <p:cNvPr id="52" name="Text 50"/>
          <p:cNvSpPr/>
          <p:nvPr/>
        </p:nvSpPr>
        <p:spPr>
          <a:xfrm>
            <a:off x="3840480" y="3054096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608576" y="301752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4–8 yr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394960" y="3017520"/>
            <a:ext cx="3493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constraints limit systemic risk; monitor pipeline approvals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01168" y="3447288"/>
            <a:ext cx="8741664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246888" y="34930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EUR/USD FX Volatility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035808" y="3520440"/>
            <a:ext cx="685800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/>
        </p:spPr>
      </p:sp>
      <p:sp>
        <p:nvSpPr>
          <p:cNvPr id="58" name="Text 56"/>
          <p:cNvSpPr/>
          <p:nvPr/>
        </p:nvSpPr>
        <p:spPr>
          <a:xfrm>
            <a:off x="3035808" y="3529584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840480" y="3520440"/>
            <a:ext cx="566928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/>
        </p:spPr>
      </p:sp>
      <p:sp>
        <p:nvSpPr>
          <p:cNvPr id="60" name="Text 58"/>
          <p:cNvSpPr/>
          <p:nvPr/>
        </p:nvSpPr>
        <p:spPr>
          <a:xfrm>
            <a:off x="3840480" y="3529584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608576" y="3493008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394960" y="3493008"/>
            <a:ext cx="3493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in EUR; use FX forwards for USD-denominated investors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01168" y="3922776"/>
            <a:ext cx="8741664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4" name="Text 62"/>
          <p:cNvSpPr/>
          <p:nvPr/>
        </p:nvSpPr>
        <p:spPr>
          <a:xfrm>
            <a:off x="246888" y="396849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Stranded Assets (Low EPC)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035808" y="3995928"/>
            <a:ext cx="685800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/>
        </p:spPr>
      </p:sp>
      <p:sp>
        <p:nvSpPr>
          <p:cNvPr id="66" name="Text 64"/>
          <p:cNvSpPr/>
          <p:nvPr/>
        </p:nvSpPr>
        <p:spPr>
          <a:xfrm>
            <a:off x="3035808" y="400507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3840480" y="3995928"/>
            <a:ext cx="566928" cy="292608"/>
          </a:xfrm>
          <a:prstGeom prst="roundRect">
            <a:avLst>
              <a:gd name="adj" fmla="val 18750"/>
            </a:avLst>
          </a:prstGeom>
          <a:solidFill>
            <a:srgbClr val="EF4444"/>
          </a:solidFill>
          <a:ln/>
        </p:spPr>
      </p:sp>
      <p:sp>
        <p:nvSpPr>
          <p:cNvPr id="68" name="Text 66"/>
          <p:cNvSpPr/>
          <p:nvPr/>
        </p:nvSpPr>
        <p:spPr>
          <a:xfrm>
            <a:off x="3840480" y="4005072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608576" y="3968496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5–10 yr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394960" y="3968496"/>
            <a:ext cx="3493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F/G rated stock; factor full retrofit cost into acquisition model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201168" y="4398264"/>
            <a:ext cx="8741664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Text 70"/>
          <p:cNvSpPr/>
          <p:nvPr/>
        </p:nvSpPr>
        <p:spPr>
          <a:xfrm>
            <a:off x="246888" y="444398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Mietpreisbremse Enforcement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3035808" y="4471416"/>
            <a:ext cx="685800" cy="292608"/>
          </a:xfrm>
          <a:prstGeom prst="roundRect">
            <a:avLst>
              <a:gd name="adj" fmla="val 18750"/>
            </a:avLst>
          </a:prstGeom>
          <a:solidFill>
            <a:srgbClr val="EF4444"/>
          </a:solidFill>
          <a:ln/>
        </p:spPr>
      </p:sp>
      <p:sp>
        <p:nvSpPr>
          <p:cNvPr id="74" name="Text 72"/>
          <p:cNvSpPr/>
          <p:nvPr/>
        </p:nvSpPr>
        <p:spPr>
          <a:xfrm>
            <a:off x="3035808" y="448056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840480" y="4471416"/>
            <a:ext cx="566928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/>
        </p:spPr>
      </p:sp>
      <p:sp>
        <p:nvSpPr>
          <p:cNvPr id="76" name="Text 74"/>
          <p:cNvSpPr/>
          <p:nvPr/>
        </p:nvSpPr>
        <p:spPr>
          <a:xfrm>
            <a:off x="3840480" y="4480560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4608576" y="4443984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394960" y="4443984"/>
            <a:ext cx="3493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re-letting increases at Mietspiegel +10%; avoid furnished short-term letting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Berlin Real Estate Dataset  |  Analysis Period: Jan 2020 – Apr 2026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6AE2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6A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FINAL VERDICT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411480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288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Mitte is structurally undersupplied. Rents will continue rising unless Berlin dramatically accelerates housing construction — politically unlikely in the near term.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2304288"/>
            <a:ext cx="8229600" cy="0"/>
          </a:xfrm>
          <a:prstGeom prst="line">
            <a:avLst/>
          </a:prstGeom>
          <a:noFill/>
          <a:ln w="7620">
            <a:solidFill>
              <a:srgbClr val="2D4A6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85800" y="23500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The 2023–24 ECB correction was the last clear buy window. With prices at all-time highs in 2025, the margin of safety has compressed; discipline on entry price is critical.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2825496"/>
            <a:ext cx="8229600" cy="0"/>
          </a:xfrm>
          <a:prstGeom prst="line">
            <a:avLst/>
          </a:prstGeom>
          <a:noFill/>
          <a:ln w="7620">
            <a:solidFill>
              <a:srgbClr val="2D4A6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85800" y="2871216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Yield improvement is real and durable: at 3.58% gross, Mitte offers competitive income relative to its risk profile — but net yield (2.2–2.8%) barely clears German Bunds.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3346704"/>
            <a:ext cx="8229600" cy="0"/>
          </a:xfrm>
          <a:prstGeom prst="line">
            <a:avLst/>
          </a:prstGeom>
          <a:noFill/>
          <a:ln w="7620">
            <a:solidFill>
              <a:srgbClr val="2D4A6E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85800" y="339242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The price gap (25–28% new vs. secondary) is structural, not cyclical. New-construction underperforms on yield and must be justified on quality, compliance, and exit premium.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3867912"/>
            <a:ext cx="8229600" cy="0"/>
          </a:xfrm>
          <a:prstGeom prst="line">
            <a:avLst/>
          </a:prstGeom>
          <a:noFill/>
          <a:ln w="7620">
            <a:solidFill>
              <a:srgbClr val="2D4A6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685800" y="39136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Regulatory risk is the #1 tail risk. A new Mietendeckel would reprice the entire rental stack. Underwrite at −20% rent; maintain LTV below 60%; prefer long-let over short-let.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4389120"/>
            <a:ext cx="8229600" cy="0"/>
          </a:xfrm>
          <a:prstGeom prst="line">
            <a:avLst/>
          </a:prstGeom>
          <a:noFill/>
          <a:ln w="7620">
            <a:solidFill>
              <a:srgbClr val="2D4A6E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685800" y="44348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Best risk-adjusted strategy: Value-add secondary acquisition (€8,000–9,000/m²) + EPC upgrade → institutional exit at 3.0–3.3% net yield in 3–5 years.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49377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report is for analytical purposes only. Not investment advice.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Berlin Real Estate Market Report — Bezirk Mitte 2020–2026</dc:title>
  <dc:subject>PptxGenJS Presentation</dc:subject>
  <dc:creator>PptxGenJS</dc:creator>
  <cp:lastModifiedBy>PptxGenJS</cp:lastModifiedBy>
  <cp:revision>1</cp:revision>
  <dcterms:created xsi:type="dcterms:W3CDTF">2026-06-17T13:22:16Z</dcterms:created>
  <dcterms:modified xsi:type="dcterms:W3CDTF">2026-06-17T13:22:16Z</dcterms:modified>
</cp:coreProperties>
</file>